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2" r:id="rId4"/>
    <p:sldId id="268" r:id="rId5"/>
    <p:sldId id="269" r:id="rId6"/>
    <p:sldId id="270" r:id="rId7"/>
  </p:sldIdLst>
  <p:sldSz cx="14630400" cy="8229600"/>
  <p:notesSz cx="8229600" cy="14630400"/>
  <p:embeddedFontLst>
    <p:embeddedFont>
      <p:font typeface="Alice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Lora" pitchFamily="2" charset="-52"/>
      <p:regular r:id="rId14"/>
      <p:bold r:id="rId15"/>
      <p:italic r:id="rId16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44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004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249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698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03374" y="793550"/>
            <a:ext cx="120335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 </a:t>
            </a:r>
            <a:r>
              <a:rPr lang="en-US" sz="445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Сущность</a:t>
            </a: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и </a:t>
            </a:r>
            <a:r>
              <a:rPr lang="ru-RU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</a:t>
            </a:r>
            <a:r>
              <a:rPr lang="en-US" sz="445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оль</a:t>
            </a: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</a:t>
            </a:r>
            <a:r>
              <a:rPr lang="en-US" sz="445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осударственного</a:t>
            </a: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б</a:t>
            </a:r>
            <a:r>
              <a:rPr lang="en-US" sz="445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юджета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175000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Государственный бюджет </a:t>
            </a:r>
            <a:r>
              <a:rPr lang="en-US" sz="2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– это ключевой инструмент финансовой политики любой страны, исторически возникший для удовлетворения общегосударственных нужд, таких как содержание власти, армии и судов. Он обеспечивает централизованное финансирование важнейших функций государства и является основой для перераспределения национального дохода и богатства.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3790" y="5057418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Государственный б</a:t>
            </a:r>
            <a:r>
              <a:rPr lang="en-US" sz="2400" b="1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юджет</a:t>
            </a:r>
            <a:r>
              <a:rPr lang="en-US" sz="2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по своей социально-экономической природе, представляет собой специфическую часть финансовых отношений, связанных с перераспределением национального дохода. По материальному содержанию он является главным </a:t>
            </a:r>
            <a:r>
              <a:rPr lang="en-US" sz="2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централизованным фондом денежных средств, </a:t>
            </a:r>
            <a:r>
              <a:rPr lang="en-US" sz="2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 по форме — </a:t>
            </a:r>
            <a:r>
              <a:rPr lang="en-US" sz="2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основным финансовым планом страны</a:t>
            </a:r>
            <a:r>
              <a:rPr lang="en-US" sz="2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обладающим силой закона.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99754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Функции Государственного Бюджета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3292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Перераспределительная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Формирование и использование централизованных фондов денежных средств на разных уровнях власти.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Регулирующая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Решение задач государственного регулирования экономических и социальных процессов.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Социальная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Финансирование потребностей в здравоохранении, образовании и культуре.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Контрольная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Государственный контроль за поступлением и целевым использованием бюджетных средств.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620316"/>
            <a:ext cx="9594771" cy="56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Принципы</a:t>
            </a: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</a:t>
            </a:r>
            <a:r>
              <a:rPr lang="en-US" sz="355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остроения</a:t>
            </a: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б</a:t>
            </a:r>
            <a:r>
              <a:rPr lang="en-US" sz="355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юджетной</a:t>
            </a: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</a:t>
            </a:r>
            <a:r>
              <a:rPr lang="en-US" sz="355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истемы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89503" y="1640979"/>
            <a:ext cx="90130" cy="90130"/>
          </a:xfrm>
          <a:prstGeom prst="roundRect">
            <a:avLst>
              <a:gd name="adj" fmla="val 507267"/>
            </a:avLst>
          </a:prstGeom>
          <a:solidFill>
            <a:srgbClr val="1B5F39"/>
          </a:solidFill>
          <a:ln/>
        </p:spPr>
      </p:sp>
      <p:sp>
        <p:nvSpPr>
          <p:cNvPr id="4" name="Text 2"/>
          <p:cNvSpPr/>
          <p:nvPr/>
        </p:nvSpPr>
        <p:spPr>
          <a:xfrm>
            <a:off x="1060013" y="1545074"/>
            <a:ext cx="2255639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Единство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9503" y="2283797"/>
            <a:ext cx="90130" cy="90130"/>
          </a:xfrm>
          <a:prstGeom prst="roundRect">
            <a:avLst>
              <a:gd name="adj" fmla="val 507267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1060013" y="2187893"/>
            <a:ext cx="2255639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Сбалансированность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89503" y="2926616"/>
            <a:ext cx="90130" cy="90130"/>
          </a:xfrm>
          <a:prstGeom prst="roundRect">
            <a:avLst>
              <a:gd name="adj" fmla="val 507267"/>
            </a:avLst>
          </a:prstGeom>
          <a:solidFill>
            <a:srgbClr val="1B5F39"/>
          </a:solidFill>
          <a:ln/>
        </p:spPr>
      </p:sp>
      <p:sp>
        <p:nvSpPr>
          <p:cNvPr id="8" name="Text 6"/>
          <p:cNvSpPr/>
          <p:nvPr/>
        </p:nvSpPr>
        <p:spPr>
          <a:xfrm>
            <a:off x="1060013" y="2830711"/>
            <a:ext cx="4289346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Полнота</a:t>
            </a: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</a:t>
            </a: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тражения</a:t>
            </a: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</a:t>
            </a: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оходов</a:t>
            </a: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и </a:t>
            </a:r>
            <a:r>
              <a:rPr lang="ru-RU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</a:t>
            </a: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асходов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89503" y="3569434"/>
            <a:ext cx="90130" cy="90130"/>
          </a:xfrm>
          <a:prstGeom prst="roundRect">
            <a:avLst>
              <a:gd name="adj" fmla="val 507267"/>
            </a:avLst>
          </a:prstGeom>
          <a:solidFill>
            <a:srgbClr val="1B5F39"/>
          </a:solidFill>
          <a:ln/>
        </p:spPr>
      </p:sp>
      <p:sp>
        <p:nvSpPr>
          <p:cNvPr id="10" name="Text 8"/>
          <p:cNvSpPr/>
          <p:nvPr/>
        </p:nvSpPr>
        <p:spPr>
          <a:xfrm>
            <a:off x="1060013" y="3473529"/>
            <a:ext cx="2255639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Гласность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89503" y="4212253"/>
            <a:ext cx="90130" cy="90130"/>
          </a:xfrm>
          <a:prstGeom prst="roundRect">
            <a:avLst>
              <a:gd name="adj" fmla="val 507267"/>
            </a:avLst>
          </a:prstGeom>
          <a:solidFill>
            <a:srgbClr val="1B5F39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013" y="4116348"/>
            <a:ext cx="2255639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Самостоятельность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89503" y="4855071"/>
            <a:ext cx="90130" cy="90130"/>
          </a:xfrm>
          <a:prstGeom prst="roundRect">
            <a:avLst>
              <a:gd name="adj" fmla="val 507267"/>
            </a:avLst>
          </a:prstGeom>
          <a:solidFill>
            <a:srgbClr val="1B5F39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013" y="4759166"/>
            <a:ext cx="4296132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Эффективность</a:t>
            </a: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</a:t>
            </a: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спользования</a:t>
            </a: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</a:t>
            </a: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редств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89503" y="5497890"/>
            <a:ext cx="90130" cy="90130"/>
          </a:xfrm>
          <a:prstGeom prst="roundRect">
            <a:avLst>
              <a:gd name="adj" fmla="val 507267"/>
            </a:avLst>
          </a:prstGeom>
          <a:solidFill>
            <a:srgbClr val="1B5F39"/>
          </a:solidFill>
          <a:ln/>
        </p:spPr>
      </p:sp>
      <p:sp>
        <p:nvSpPr>
          <p:cNvPr id="16" name="Text 14"/>
          <p:cNvSpPr/>
          <p:nvPr/>
        </p:nvSpPr>
        <p:spPr>
          <a:xfrm>
            <a:off x="1060013" y="5401985"/>
            <a:ext cx="4276725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Общее</a:t>
            </a: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(</a:t>
            </a:r>
            <a:r>
              <a:rPr lang="ru-RU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</a:t>
            </a: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овокупное</a:t>
            </a: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) </a:t>
            </a:r>
            <a:r>
              <a:rPr lang="ru-RU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</a:t>
            </a: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окрытие</a:t>
            </a: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</a:t>
            </a: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асходов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89503" y="6140708"/>
            <a:ext cx="90130" cy="90130"/>
          </a:xfrm>
          <a:prstGeom prst="roundRect">
            <a:avLst>
              <a:gd name="adj" fmla="val 507267"/>
            </a:avLst>
          </a:prstGeom>
          <a:solidFill>
            <a:srgbClr val="1B5F39"/>
          </a:solidFill>
          <a:ln/>
        </p:spPr>
      </p:sp>
      <p:sp>
        <p:nvSpPr>
          <p:cNvPr id="18" name="Text 16"/>
          <p:cNvSpPr/>
          <p:nvPr/>
        </p:nvSpPr>
        <p:spPr>
          <a:xfrm>
            <a:off x="1060013" y="6044803"/>
            <a:ext cx="2255639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Достоверность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89503" y="6783526"/>
            <a:ext cx="90130" cy="90130"/>
          </a:xfrm>
          <a:prstGeom prst="roundRect">
            <a:avLst>
              <a:gd name="adj" fmla="val 507267"/>
            </a:avLst>
          </a:prstGeom>
          <a:solidFill>
            <a:srgbClr val="1B5F39"/>
          </a:solidFill>
          <a:ln/>
        </p:spPr>
      </p:sp>
      <p:sp>
        <p:nvSpPr>
          <p:cNvPr id="20" name="Text 18"/>
          <p:cNvSpPr/>
          <p:nvPr/>
        </p:nvSpPr>
        <p:spPr>
          <a:xfrm>
            <a:off x="1060013" y="6687622"/>
            <a:ext cx="3674626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Адресность и </a:t>
            </a:r>
            <a:r>
              <a:rPr lang="ru-RU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ц</a:t>
            </a: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елевое</a:t>
            </a: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</a:t>
            </a: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азначение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89503" y="7426345"/>
            <a:ext cx="90130" cy="90130"/>
          </a:xfrm>
          <a:prstGeom prst="roundRect">
            <a:avLst>
              <a:gd name="adj" fmla="val 507267"/>
            </a:avLst>
          </a:prstGeom>
          <a:solidFill>
            <a:srgbClr val="1B5F39"/>
          </a:solidFill>
          <a:ln/>
        </p:spPr>
      </p:sp>
      <p:sp>
        <p:nvSpPr>
          <p:cNvPr id="22" name="Text 20"/>
          <p:cNvSpPr/>
          <p:nvPr/>
        </p:nvSpPr>
        <p:spPr>
          <a:xfrm>
            <a:off x="1060013" y="7330440"/>
            <a:ext cx="311741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Ответственность</a:t>
            </a: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</a:t>
            </a:r>
            <a:r>
              <a:rPr lang="en-US" sz="240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частников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702" y="326350"/>
            <a:ext cx="555390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ru-RU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4. </a:t>
            </a:r>
            <a:r>
              <a:rPr lang="en-US" sz="28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Доходы</a:t>
            </a: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бюджета: </a:t>
            </a:r>
            <a:r>
              <a:rPr lang="ru-RU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</a:t>
            </a:r>
            <a:r>
              <a:rPr lang="en-US" sz="28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сточники</a:t>
            </a: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и </a:t>
            </a:r>
            <a:r>
              <a:rPr lang="ru-RU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</a:t>
            </a:r>
            <a:r>
              <a:rPr lang="en-US" sz="28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труктура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37185" y="1198415"/>
            <a:ext cx="13680996" cy="82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600" b="1" u="sng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Доходы бюджета 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– это денежные средства, поступающие в безвозмездном и безвозвратном порядке в соответствии с законодательством страны в распоряжение органов государственной власти, её субъектов и органов местного самоуправления. В рамках бюджетной классификации доходы группируются по источникам и способам их получения.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79699" y="2761813"/>
            <a:ext cx="1691521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Налоговые доходы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79699" y="3086020"/>
            <a:ext cx="670298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Предусмотренные налоговым законодательством налоги и сборы субъектов Республики Беларусь.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79699" y="3305809"/>
            <a:ext cx="670298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Местные налоги и сборы.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79699" y="3525599"/>
            <a:ext cx="670298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Пени и штрафы за нарушение налогового законодательства.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79699" y="3818731"/>
            <a:ext cx="1691521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Неналоговые доходы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79699" y="4142938"/>
            <a:ext cx="670298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Доходы от использования имущества, находящегося в государственной или муниципальной собственности.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79699" y="4362727"/>
            <a:ext cx="670298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Доходы от продажи или иного возмездного отчуждения государственного/муниципального имущества.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79699" y="4582517"/>
            <a:ext cx="670298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Доходы от платных услуг, оказываемых государственными органами и бюджетными учреждениями.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298" y="1832768"/>
            <a:ext cx="3460999" cy="586025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4702" y="5970707"/>
            <a:ext cx="3742253" cy="309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Особое место в системе неналоговых доходов занимают: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4702" y="6259672"/>
            <a:ext cx="6702981" cy="316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Доходы от использования и продажи государственного/муниципального имущества.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4702" y="6479462"/>
            <a:ext cx="6702981" cy="633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Доходы, связанные с обращением бюджетных средств на финансовом рынке (проценты по остаткам, передача имущества под залог или в доверительное управление).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474702" y="7206509"/>
            <a:ext cx="6702981" cy="316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Финансовая помощь от бюджетов другого уровня (дотации, субвенции, безвозмездные трансферты).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122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41" y="537805"/>
            <a:ext cx="11185922" cy="611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00"/>
              </a:lnSpc>
            </a:pPr>
            <a:r>
              <a:rPr lang="en-US" sz="3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Доходы бюджета: </a:t>
            </a:r>
            <a:r>
              <a:rPr lang="ru-RU" sz="3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</a:t>
            </a:r>
            <a:r>
              <a:rPr lang="en-US" sz="38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обственные</a:t>
            </a:r>
            <a:r>
              <a:rPr lang="en-US" sz="3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и </a:t>
            </a:r>
            <a:r>
              <a:rPr lang="ru-RU" sz="3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</a:t>
            </a:r>
            <a:r>
              <a:rPr lang="en-US" sz="38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егулирующие</a:t>
            </a:r>
            <a:endParaRPr lang="en-US" sz="3800" dirty="0">
              <a:solidFill>
                <a:prstClr val="black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82241" y="1540073"/>
            <a:ext cx="13065919" cy="938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 порядку и условиям зачисления в составе доходов бюджетов выделяют собственные и регулирующие доходы бюджетов. Это разделение обеспечивает гибкость и справедливость в распределении финансовых ресурсов между различными уровнями бюджетной системы.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82241" y="2698671"/>
            <a:ext cx="13065919" cy="4147780"/>
          </a:xfrm>
          <a:prstGeom prst="roundRect">
            <a:avLst>
              <a:gd name="adj" fmla="val 707"/>
            </a:avLst>
          </a:prstGeom>
          <a:solidFill>
            <a:srgbClr val="F0EDE6"/>
          </a:solidFill>
          <a:ln/>
        </p:spPr>
      </p:sp>
      <p:sp>
        <p:nvSpPr>
          <p:cNvPr id="5" name="Shape 3"/>
          <p:cNvSpPr/>
          <p:nvPr/>
        </p:nvSpPr>
        <p:spPr>
          <a:xfrm>
            <a:off x="782241" y="2698671"/>
            <a:ext cx="6532959" cy="4147780"/>
          </a:xfrm>
          <a:prstGeom prst="roundRect">
            <a:avLst>
              <a:gd name="adj" fmla="val 707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977741" y="2894171"/>
            <a:ext cx="244471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Собственные доходы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77741" y="3316962"/>
            <a:ext cx="6141958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5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Виды доходов, закрепленные законодательством Республики Беларусь на постоянной основе.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77741" y="4011097"/>
            <a:ext cx="6141958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5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Могут быть полностью или частично зачислены за соответствующими бюджетами.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77741" y="4705231"/>
            <a:ext cx="6141958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5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Обеспечивают финансовую автономию и стабильность региональных и местных бюджетов.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77741" y="5399365"/>
            <a:ext cx="6141958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5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Примеры: часть подоходного налога, налог на недвижимость.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0" y="2698671"/>
            <a:ext cx="6532959" cy="414778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2698671"/>
            <a:ext cx="22860" cy="4147780"/>
          </a:xfrm>
          <a:prstGeom prst="roundRect">
            <a:avLst>
              <a:gd name="adj" fmla="val 128331"/>
            </a:avLst>
          </a:prstGeom>
          <a:solidFill>
            <a:srgbClr val="D6D3CC"/>
          </a:solidFill>
          <a:ln/>
        </p:spPr>
      </p:sp>
      <p:sp>
        <p:nvSpPr>
          <p:cNvPr id="13" name="Text 11"/>
          <p:cNvSpPr/>
          <p:nvPr/>
        </p:nvSpPr>
        <p:spPr>
          <a:xfrm>
            <a:off x="7510701" y="2894171"/>
            <a:ext cx="262818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Регулирующие доходы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10701" y="3316962"/>
            <a:ext cx="6141958" cy="938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5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Республиканские и местные налоги, по которым устанавливаются нормативы отчислений (в процентах) в местные бюджеты на очередной финансовый год.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10701" y="4323993"/>
            <a:ext cx="6141958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5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Нормативы отчислений определяются законом о бюджете того уровня, который передает регулирующие доходы, либо законом о бюджете того уровня, который распределяет переданные ему доходы.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10701" y="5643920"/>
            <a:ext cx="6141958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5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Служат инструментом выравнивания бюджетной обеспеченности территорий.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10701" y="6338054"/>
            <a:ext cx="614195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45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Примеры: налог на добавленную стоимость (НДС), акцизы.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2241" y="7066359"/>
            <a:ext cx="13065919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Такая система позволяет государству централизованно регулировать финансовые потоки, обеспечивая поддержку менее развитым регионам и стимулируя их экономический рост.</a:t>
            </a:r>
            <a:endParaRPr lang="en-US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925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77347"/>
            <a:ext cx="8350210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900"/>
              </a:lnSpc>
            </a:pPr>
            <a:r>
              <a:rPr lang="ru-RU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6. </a:t>
            </a:r>
            <a:r>
              <a:rPr lang="en-US" sz="31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Расходы</a:t>
            </a: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бюджета: </a:t>
            </a:r>
            <a:r>
              <a:rPr lang="ru-RU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</a:t>
            </a:r>
            <a:r>
              <a:rPr lang="en-US" sz="31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аправления</a:t>
            </a: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и </a:t>
            </a:r>
            <a:r>
              <a:rPr lang="ru-RU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</a:t>
            </a:r>
            <a:r>
              <a:rPr lang="en-US" sz="31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ормы</a:t>
            </a:r>
            <a:endParaRPr lang="en-US" sz="3100" dirty="0">
              <a:solidFill>
                <a:prstClr val="black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801410" y="1478756"/>
            <a:ext cx="7556421" cy="1270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b="1" u="sng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Расходы бюджета </a:t>
            </a: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– это денежные средства, направляемые на финансовое обеспечение задач и функций государства и местного самоуправления. Формирование расходов бюджетов всех уровней базируется на единых методологических основах, нормативах минимальной бюджетной обеспеченности и финансовых затрат на оказание государственных услуг, устанавливаемых Правительством Республики Беларусь.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515439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2000" b="1" u="sng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Текущие расходы</a:t>
            </a:r>
            <a:endParaRPr lang="en-US" sz="2000" b="1" u="sng" dirty="0">
              <a:solidFill>
                <a:prstClr val="black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3971806"/>
            <a:ext cx="358461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Обеспечение текущего функционирования бюджетных организаций.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4789527"/>
            <a:ext cx="358461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Поддержка организаций и индивидуальных предпринимателей на текущие цели.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5607248"/>
            <a:ext cx="35846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Обслуживание долговых обязательств.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93790" y="5916811"/>
            <a:ext cx="358461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Предоставление межбюджетных трансфертов.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93790" y="6480453"/>
            <a:ext cx="3584615" cy="1016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Прочие расходы, не увеличивающие стоимости основных средств, нематериальных активов и материальных запасов.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773216" y="3515439"/>
            <a:ext cx="250959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2000" b="1" u="sng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Капитальные расходы</a:t>
            </a:r>
            <a:endParaRPr lang="en-US" sz="2000" b="1" u="sng" dirty="0">
              <a:solidFill>
                <a:prstClr val="black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773216" y="3971806"/>
            <a:ext cx="358461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Обеспечение инновационной и инвестиционной деятельности.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73216" y="4535448"/>
            <a:ext cx="358461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Инвестиции в действующие или вновь создаваемые организации.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73216" y="5099090"/>
            <a:ext cx="358461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Расходы на модернизацию и реконструкцию.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73216" y="5662732"/>
            <a:ext cx="3584615" cy="1270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Прочие расходы, при осуществлении которых создается или увеличивается имущество, находящееся в республиканской и коммунальной собственности.</a:t>
            </a:r>
            <a:endParaRPr lang="en-US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863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678</Words>
  <Application>Microsoft Office PowerPoint</Application>
  <PresentationFormat>Произвольный</PresentationFormat>
  <Paragraphs>69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Alice</vt:lpstr>
      <vt:lpstr>Lora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Рудковская Ольга Геннадьевна</dc:creator>
  <cp:lastModifiedBy>Ольга Алилуева</cp:lastModifiedBy>
  <cp:revision>8</cp:revision>
  <dcterms:created xsi:type="dcterms:W3CDTF">2025-09-19T13:12:19Z</dcterms:created>
  <dcterms:modified xsi:type="dcterms:W3CDTF">2026-01-07T14:03:33Z</dcterms:modified>
</cp:coreProperties>
</file>