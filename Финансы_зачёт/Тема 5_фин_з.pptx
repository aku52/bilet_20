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5" r:id="rId15"/>
    <p:sldId id="286" r:id="rId16"/>
  </p:sldIdLst>
  <p:sldSz cx="14630400" cy="8229600"/>
  <p:notesSz cx="8229600" cy="146304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483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418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952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7079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648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0015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0623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742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4099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100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31520" y="329564"/>
            <a:ext cx="131673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48640" lvl="0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097280" lvl="1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645920" lvl="2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743200" lvl="4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291840" lvl="5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840480" lvl="6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389120" lvl="7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937760" lvl="8" indent="-41148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5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2514600" y="771525"/>
            <a:ext cx="9789794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lvl="0">
              <a:buClr>
                <a:srgbClr val="7030A0"/>
              </a:buClr>
              <a:buSzPts val="2800"/>
            </a:pP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Классификация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денежных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расходов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предприятия</a:t>
            </a:r>
            <a:r>
              <a:rPr lang="ru-RU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и</a:t>
            </a:r>
            <a:r>
              <a:rPr lang="ru-RU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х состав и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источники</a:t>
            </a:r>
            <a:r>
              <a:rPr lang="en-US" sz="3360" b="1" i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3360" b="1" i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финансирования</a:t>
            </a:r>
            <a:br>
              <a:rPr lang="en-US" sz="528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97" name="Google Shape;97;p15" descr="Zatratyi-na-pokupku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9250" y="4994911"/>
            <a:ext cx="4846320" cy="32346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2377440" y="2675559"/>
            <a:ext cx="9875520" cy="4675835"/>
          </a:xfrm>
        </p:spPr>
        <p:txBody>
          <a:bodyPr/>
          <a:lstStyle/>
          <a:p>
            <a:pPr marL="137160" indent="0">
              <a:buNone/>
            </a:pPr>
            <a:r>
              <a:rPr lang="ru-RU" dirty="0"/>
              <a:t>- расходы по текущей деятельности</a:t>
            </a:r>
            <a:br>
              <a:rPr lang="ru-RU" dirty="0"/>
            </a:br>
            <a:r>
              <a:rPr lang="ru-RU" dirty="0"/>
              <a:t>- расходы по инвестиционной деятельности</a:t>
            </a:r>
            <a:br>
              <a:rPr lang="ru-RU" dirty="0"/>
            </a:br>
            <a:r>
              <a:rPr lang="ru-RU" dirty="0"/>
              <a:t>- расходы по финансовой деятельности</a:t>
            </a:r>
            <a:br>
              <a:rPr lang="ru-RU" dirty="0"/>
            </a:b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3317100384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2171700" y="342901"/>
            <a:ext cx="7200900" cy="668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 algn="just">
              <a:spcBef>
                <a:spcPts val="0"/>
              </a:spcBef>
              <a:buClr>
                <a:srgbClr val="0070C0"/>
              </a:buClr>
              <a:buSzPts val="3200"/>
              <a:buNone/>
            </a:pPr>
            <a:r>
              <a:rPr lang="en-US" sz="384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Расходы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уменьшение экономических выгод в течении отчетного периода путем уменьшения активов или увеличения обязательств, ведущие к увеличению собственного капитала организации не связанного с его передачей собственнику имущества и распределением между учредителями.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6" descr="8258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2600" y="0"/>
            <a:ext cx="3429000" cy="6240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3164241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 descr="Расходы-Налоги-и-Долг-40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9175" y="2743200"/>
            <a:ext cx="7972424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6;p15"/>
          <p:cNvSpPr txBox="1">
            <a:spLocks noGrp="1"/>
          </p:cNvSpPr>
          <p:nvPr>
            <p:ph type="body" idx="1"/>
          </p:nvPr>
        </p:nvSpPr>
        <p:spPr>
          <a:xfrm>
            <a:off x="2422534" y="326930"/>
            <a:ext cx="9875520" cy="543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 algn="just">
              <a:spcBef>
                <a:spcPts val="0"/>
              </a:spcBef>
              <a:buClr>
                <a:srgbClr val="FF0000"/>
              </a:buClr>
              <a:buSzPts val="3200"/>
              <a:buNone/>
            </a:pP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Затраты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стоимость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ресурсов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потребленных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организацией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процессе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производства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реализации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товаров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услуг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если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организация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предполагает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получение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выгод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будущих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периодах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438772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2343150" y="342900"/>
            <a:ext cx="10201274" cy="402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 algn="just">
              <a:spcBef>
                <a:spcPts val="0"/>
              </a:spcBef>
              <a:buClr>
                <a:srgbClr val="0070C0"/>
              </a:buClr>
              <a:buSzPts val="3200"/>
              <a:buNone/>
            </a:pPr>
            <a:r>
              <a:rPr lang="en-US" sz="384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Текущая деятельность 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является основной приносящей доход деятельность организации, прочая деятельность, не относящаяся к финансовой и инвестиционной.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8" descr="2012_05_15_14.40.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6651" y="3337560"/>
            <a:ext cx="5314950" cy="489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descr="picture22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1" y="3343275"/>
            <a:ext cx="5657850" cy="48863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12498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Расходы по текущей деятельности</a:t>
            </a:r>
            <a:endParaRPr lang="be-BY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360" dirty="0"/>
              <a:t>себестоимость реализованной продукции (работ, услуг):</a:t>
            </a:r>
          </a:p>
          <a:p>
            <a:pPr marL="137160" indent="0">
              <a:buNone/>
            </a:pPr>
            <a:r>
              <a:rPr lang="ru-RU" sz="3360" dirty="0"/>
              <a:t>       - прямые и косвенные затраты</a:t>
            </a:r>
          </a:p>
          <a:p>
            <a:pPr marL="137160" indent="0">
              <a:buNone/>
            </a:pPr>
            <a:r>
              <a:rPr lang="ru-RU" sz="3360" dirty="0"/>
              <a:t>       -постоянные и переменные затраты</a:t>
            </a:r>
          </a:p>
          <a:p>
            <a:r>
              <a:rPr lang="ru-RU" sz="3360" dirty="0"/>
              <a:t>управленческие расходы</a:t>
            </a:r>
          </a:p>
          <a:p>
            <a:r>
              <a:rPr lang="ru-RU" sz="3360" dirty="0"/>
              <a:t>расходы на реализацию</a:t>
            </a:r>
          </a:p>
          <a:p>
            <a:r>
              <a:rPr lang="ru-RU" sz="3360" dirty="0"/>
              <a:t>прочие расходы по текущей деятельности</a:t>
            </a:r>
          </a:p>
          <a:p>
            <a:endParaRPr lang="ru-RU" dirty="0"/>
          </a:p>
          <a:p>
            <a:pPr marL="137160" indent="0">
              <a:buNone/>
            </a:pPr>
            <a:r>
              <a:rPr lang="ru-RU" sz="2400" dirty="0"/>
              <a:t>Покрываются за счет выручки от реализации продукции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94934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 descr="3613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3400" y="685800"/>
            <a:ext cx="46482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2085975" y="342900"/>
            <a:ext cx="7286624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>
              <a:spcBef>
                <a:spcPts val="0"/>
              </a:spcBef>
              <a:buClr>
                <a:srgbClr val="262673"/>
              </a:buClr>
              <a:buSzPts val="3200"/>
              <a:buNone/>
            </a:pPr>
            <a:r>
              <a:rPr lang="en-US" sz="3840" b="1" dirty="0" err="1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Инвестиционная</a:t>
            </a:r>
            <a:r>
              <a:rPr lang="en-US" sz="3840" b="1" dirty="0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b="1" dirty="0" err="1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840" b="1" dirty="0">
                <a:solidFill>
                  <a:srgbClr val="2626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приобретению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созданию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</a:t>
            </a:r>
            <a:r>
              <a:rPr lang="ru-RU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прочему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выбытию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основных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средств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нематериальных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активов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доходных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вложений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материальные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активы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вложения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долгосрочные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активы</a:t>
            </a:r>
            <a:r>
              <a:rPr lang="en-US" sz="384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2313699"/>
      </p:ext>
    </p:extLst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e-BY" dirty="0"/>
              <a:t>Расходы по инвестиционной деятельности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Реализация и выбытие инвестиционных активов</a:t>
            </a:r>
          </a:p>
          <a:p>
            <a:r>
              <a:rPr lang="ru-RU" dirty="0"/>
              <a:t>Участие в совместной деятельности</a:t>
            </a:r>
          </a:p>
          <a:p>
            <a:r>
              <a:rPr lang="ru-RU" dirty="0"/>
              <a:t>Изменение стоимости инвестиционных активов в результате переоценки и др.</a:t>
            </a:r>
          </a:p>
          <a:p>
            <a:endParaRPr lang="ru-RU" dirty="0"/>
          </a:p>
          <a:p>
            <a:pPr marL="137160" indent="0">
              <a:buNone/>
            </a:pPr>
            <a:r>
              <a:rPr lang="ru-RU" sz="3360" dirty="0"/>
              <a:t>Покрываются за счет соответствующих им доходов и прибыли организации</a:t>
            </a:r>
            <a:endParaRPr lang="be-BY" sz="3360" dirty="0"/>
          </a:p>
        </p:txBody>
      </p:sp>
    </p:spTree>
    <p:extLst>
      <p:ext uri="{BB962C8B-B14F-4D97-AF65-F5344CB8AC3E}">
        <p14:creationId xmlns:p14="http://schemas.microsoft.com/office/powerpoint/2010/main" val="391511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 descr="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2680334"/>
            <a:ext cx="10972800" cy="5585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343151" y="342901"/>
            <a:ext cx="9772650" cy="372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algn="just">
              <a:buClr>
                <a:srgbClr val="FF0000"/>
              </a:buClr>
              <a:buSzPts val="2800"/>
            </a:pPr>
            <a:r>
              <a:rPr lang="en-US" sz="336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Финансовая</a:t>
            </a:r>
            <a:r>
              <a:rPr lang="en-US" sz="336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36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приводящая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изменением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величины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состава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внесенного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собственного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капитала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обязательств</a:t>
            </a:r>
            <a:r>
              <a:rPr lang="ru-RU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кредитов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займов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иных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аналогичных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обязательств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указанная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относится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текущей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соответствии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учетной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политикой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6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организации</a:t>
            </a:r>
            <a:r>
              <a:rPr lang="en-US" sz="336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60" dirty="0"/>
          </a:p>
        </p:txBody>
      </p:sp>
    </p:spTree>
    <p:extLst>
      <p:ext uri="{BB962C8B-B14F-4D97-AF65-F5344CB8AC3E}">
        <p14:creationId xmlns:p14="http://schemas.microsoft.com/office/powerpoint/2010/main" val="3045948862"/>
      </p:ext>
    </p:extLst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e-BY" dirty="0"/>
              <a:t>Расходы по финансовой деятельности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Проценты, подлежащие к уплате за пользование кредитами, займами</a:t>
            </a:r>
          </a:p>
          <a:p>
            <a:r>
              <a:rPr lang="ru-RU" dirty="0"/>
              <a:t>Платежи за аренду и лизинг имущества</a:t>
            </a:r>
          </a:p>
          <a:p>
            <a:r>
              <a:rPr lang="ru-RU" dirty="0"/>
              <a:t>Курсовые разницы, возникающие от пересчета активов и обязательств, выраженных в иностранной валюте</a:t>
            </a:r>
          </a:p>
          <a:p>
            <a:endParaRPr lang="ru-RU" dirty="0"/>
          </a:p>
          <a:p>
            <a:pPr marL="137160" indent="0">
              <a:buNone/>
            </a:pPr>
            <a:r>
              <a:rPr lang="ru-RU" sz="2400" dirty="0"/>
              <a:t>Покрываются за счет доходов в виде курсовых разниц от пересчета активов и обязательств и прочих доходов от финансовой деятельности</a:t>
            </a:r>
            <a:endParaRPr lang="be-BY" sz="2400" dirty="0"/>
          </a:p>
        </p:txBody>
      </p:sp>
    </p:spTree>
    <p:extLst>
      <p:ext uri="{BB962C8B-B14F-4D97-AF65-F5344CB8AC3E}">
        <p14:creationId xmlns:p14="http://schemas.microsoft.com/office/powerpoint/2010/main" val="302024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7440" y="269440"/>
            <a:ext cx="9875520" cy="1371600"/>
          </a:xfrm>
        </p:spPr>
        <p:txBody>
          <a:bodyPr/>
          <a:lstStyle/>
          <a:p>
            <a:br>
              <a:rPr lang="ru-RU" sz="3840" dirty="0"/>
            </a:br>
            <a:r>
              <a:rPr lang="ru-RU" sz="3840" dirty="0">
                <a:solidFill>
                  <a:srgbClr val="0070C0"/>
                </a:solidFill>
              </a:rPr>
              <a:t>2.Затраты на производство. Себестоимость продукции, работ, услуг</a:t>
            </a:r>
            <a:br>
              <a:rPr lang="ru-RU" sz="3840" dirty="0">
                <a:solidFill>
                  <a:srgbClr val="0070C0"/>
                </a:solidFill>
              </a:rPr>
            </a:br>
            <a:endParaRPr lang="be-BY" sz="3840" dirty="0">
              <a:solidFill>
                <a:srgbClr val="0070C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ru-RU" dirty="0">
                <a:solidFill>
                  <a:srgbClr val="FF0000"/>
                </a:solidFill>
              </a:rPr>
              <a:t>Затраты на производство включают 5 экономических элементов затрат:</a:t>
            </a:r>
          </a:p>
          <a:p>
            <a:r>
              <a:rPr lang="ru-RU" dirty="0"/>
              <a:t>материальные затраты</a:t>
            </a:r>
          </a:p>
          <a:p>
            <a:r>
              <a:rPr lang="ru-RU" dirty="0"/>
              <a:t>затраты на оплату труда</a:t>
            </a:r>
          </a:p>
          <a:p>
            <a:r>
              <a:rPr lang="ru-RU" dirty="0"/>
              <a:t>отчисления на социальные нужды (ФСЗН, </a:t>
            </a:r>
            <a:r>
              <a:rPr lang="ru-RU" dirty="0" err="1"/>
              <a:t>Белгосстрах</a:t>
            </a:r>
            <a:r>
              <a:rPr lang="ru-RU" dirty="0"/>
              <a:t>)</a:t>
            </a:r>
          </a:p>
          <a:p>
            <a:r>
              <a:rPr lang="ru-RU" dirty="0"/>
              <a:t>амортизационные отчисления</a:t>
            </a:r>
          </a:p>
          <a:p>
            <a:r>
              <a:rPr lang="ru-RU" dirty="0"/>
              <a:t>прочие затраты</a:t>
            </a:r>
          </a:p>
          <a:p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123691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4" descr="images (1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9726" y="2848594"/>
            <a:ext cx="54006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2257424" y="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rgbClr val="7030A0"/>
              </a:buClr>
              <a:buSzPts val="4400"/>
            </a:pPr>
            <a:r>
              <a:rPr lang="en-US" sz="528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Затраты: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2085975" y="1457325"/>
            <a:ext cx="8829674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411480">
              <a:spcBef>
                <a:spcPts val="0"/>
              </a:spcBef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84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Постоянные затраты 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 зависят от изменения объема выпущенной продукции (арендная плата, повременная заработная плата, административные расходы)</a:t>
            </a:r>
            <a:endParaRPr/>
          </a:p>
          <a:p>
            <a:pPr marL="411480">
              <a:spcBef>
                <a:spcPts val="768"/>
              </a:spcBef>
              <a:buClr>
                <a:srgbClr val="FF0000"/>
              </a:buClr>
              <a:buSzPts val="3200"/>
              <a:buFont typeface="Arial"/>
              <a:buChar char="•"/>
            </a:pPr>
            <a:r>
              <a:rPr lang="en-US" sz="384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Переменные затраты </a:t>
            </a:r>
            <a:r>
              <a:rPr lang="en-US" sz="38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прямо пропорциональны объему производства (сырье материалы, топливо и энергия).</a:t>
            </a:r>
            <a:endParaRPr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5120580"/>
      </p:ext>
    </p:extLst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 descr="detiden_gi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4638" y="3325090"/>
            <a:ext cx="4880759" cy="42157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2377440" y="329564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>
              <a:buClr>
                <a:srgbClr val="FF0000"/>
              </a:buClr>
              <a:buSzPts val="3200"/>
            </a:pP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Содержание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себестоимости продукции, работ, услуг</a:t>
            </a:r>
            <a:endParaRPr dirty="0"/>
          </a:p>
        </p:txBody>
      </p:sp>
      <p:sp>
        <p:nvSpPr>
          <p:cNvPr id="148" name="Google Shape;148;p23"/>
          <p:cNvSpPr txBox="1"/>
          <p:nvPr/>
        </p:nvSpPr>
        <p:spPr>
          <a:xfrm>
            <a:off x="2085975" y="1457325"/>
            <a:ext cx="6943724" cy="64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>
              <a:buClr>
                <a:schemeClr val="dk1"/>
              </a:buClr>
              <a:buSzPts val="3200"/>
            </a:pPr>
            <a:r>
              <a:rPr lang="en-US" sz="384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Себестоимость</a:t>
            </a:r>
            <a:r>
              <a:rPr lang="en-US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4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работ, </a:t>
            </a:r>
            <a:r>
              <a:rPr lang="en-US" sz="384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услуг</a:t>
            </a:r>
            <a:r>
              <a:rPr lang="en-US" sz="384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представляет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собой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стоимостную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оценку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процессе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производства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продукции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услуг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природных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сырья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материалов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топлива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энергии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средств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нематериальных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трудовых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ресурсов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других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затрат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ее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производство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3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реализацию</a:t>
            </a: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60" dirty="0"/>
          </a:p>
        </p:txBody>
      </p:sp>
    </p:spTree>
    <p:extLst>
      <p:ext uri="{BB962C8B-B14F-4D97-AF65-F5344CB8AC3E}">
        <p14:creationId xmlns:p14="http://schemas.microsoft.com/office/powerpoint/2010/main" val="3291761199"/>
      </p:ext>
    </p:extLst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ОЧЕНЬ ВАЖНО РАЗЛИЧАТЬ</a:t>
            </a:r>
            <a:endParaRPr lang="be-BY" dirty="0">
              <a:solidFill>
                <a:srgbClr val="FF00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Себестоимость продукции = затраты на производство ± изменение остатков незавершенного производства ± изменение расходов будущих периодов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2962239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планирования</a:t>
            </a:r>
            <a:endParaRPr lang="be-BY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Прямой:</a:t>
            </a:r>
            <a:r>
              <a:rPr lang="ru-RU" dirty="0"/>
              <a:t> суммирование затрат по элементам и статьям калькуляции</a:t>
            </a:r>
          </a:p>
          <a:p>
            <a:pPr marL="137160" indent="0">
              <a:buNone/>
            </a:pPr>
            <a:endParaRPr lang="ru-RU" dirty="0"/>
          </a:p>
          <a:p>
            <a:pPr marL="137160" indent="0">
              <a:buNone/>
            </a:pPr>
            <a:endParaRPr lang="ru-RU" dirty="0"/>
          </a:p>
          <a:p>
            <a:pPr marL="137160" indent="0">
              <a:buNone/>
            </a:pPr>
            <a:r>
              <a:rPr lang="ru-RU" dirty="0"/>
              <a:t>Высокая степень точности и конкретности на момент осуществления расчетов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27457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9" descr="planning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554855"/>
            <a:ext cx="6515100" cy="36747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>
            <a:spLocks noGrp="1"/>
          </p:cNvSpPr>
          <p:nvPr>
            <p:ph type="body" idx="1"/>
          </p:nvPr>
        </p:nvSpPr>
        <p:spPr>
          <a:xfrm>
            <a:off x="748145" y="600075"/>
            <a:ext cx="13217237" cy="543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Autofit/>
          </a:bodyPr>
          <a:lstStyle/>
          <a:p>
            <a:pPr marL="0" indent="539114">
              <a:spcBef>
                <a:spcPts val="0"/>
              </a:spcBef>
              <a:buClr>
                <a:srgbClr val="7030A0"/>
              </a:buClr>
              <a:buSzPts val="3200"/>
              <a:buNone/>
            </a:pPr>
            <a:r>
              <a:rPr lang="en-US" sz="3840" b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Аналитический</a:t>
            </a:r>
            <a:r>
              <a:rPr lang="en-US" sz="3840" b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dirty="0" err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r>
              <a:rPr lang="en-US" sz="3840" b="1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расчета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позволяет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отслеживать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влияние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внешних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внутренних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факторов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уровень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себестоимости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выпускаемой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продукции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управлять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ею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реальном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режиме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времени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indent="539114">
              <a:spcBef>
                <a:spcPts val="0"/>
              </a:spcBef>
              <a:buClr>
                <a:srgbClr val="FF0000"/>
              </a:buClr>
              <a:buSzPts val="3200"/>
              <a:buNone/>
            </a:pP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Аналитический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r>
              <a:rPr lang="en-US" sz="384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планирования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базируется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распределении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затрат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переменные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4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постоянные</a:t>
            </a:r>
            <a:r>
              <a:rPr lang="en-US" sz="384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411480" indent="-167640">
              <a:spcBef>
                <a:spcPts val="768"/>
              </a:spcBef>
              <a:buSzPts val="3200"/>
              <a:buNone/>
            </a:pPr>
            <a:endParaRPr sz="384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189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521</Words>
  <Application>Microsoft Office PowerPoint</Application>
  <PresentationFormat>Произвольный</PresentationFormat>
  <Paragraphs>49</Paragraphs>
  <Slides>15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Times New Roman</vt:lpstr>
      <vt:lpstr>Calibri Light</vt:lpstr>
      <vt:lpstr>Calibri</vt:lpstr>
      <vt:lpstr>Office Theme</vt:lpstr>
      <vt:lpstr>1. Классификация денежных расходов предприятия, их состав и источники  финансирования </vt:lpstr>
      <vt:lpstr>Презентация PowerPoint</vt:lpstr>
      <vt:lpstr>Презентация PowerPoint</vt:lpstr>
      <vt:lpstr>Презентация PowerPoint</vt:lpstr>
      <vt:lpstr>Расходы по текущей деятельности</vt:lpstr>
      <vt:lpstr>Презентация PowerPoint</vt:lpstr>
      <vt:lpstr>Расходы по инвестиционной деятельности</vt:lpstr>
      <vt:lpstr>Презентация PowerPoint</vt:lpstr>
      <vt:lpstr>Расходы по финансовой деятельности</vt:lpstr>
      <vt:lpstr> 2.Затраты на производство. Себестоимость продукции, работ, услуг </vt:lpstr>
      <vt:lpstr>Затраты:</vt:lpstr>
      <vt:lpstr>Содержание себестоимости продукции, работ, услуг</vt:lpstr>
      <vt:lpstr>ОЧЕНЬ ВАЖНО РАЗЛИЧАТЬ</vt:lpstr>
      <vt:lpstr>Методы планирования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Рудковская Ольга Геннадьевна</dc:creator>
  <cp:lastModifiedBy>Ольга Алилуева</cp:lastModifiedBy>
  <cp:revision>5</cp:revision>
  <dcterms:created xsi:type="dcterms:W3CDTF">2025-10-17T09:57:36Z</dcterms:created>
  <dcterms:modified xsi:type="dcterms:W3CDTF">2026-01-07T11:13:58Z</dcterms:modified>
</cp:coreProperties>
</file>